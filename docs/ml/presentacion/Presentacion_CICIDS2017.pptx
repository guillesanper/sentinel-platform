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75" autoAdjust="0"/>
  </p:normalViewPr>
  <p:slideViewPr>
    <p:cSldViewPr snapToGrid="0" snapToObjects="1">
      <p:cViewPr varScale="1">
        <p:scale>
          <a:sx n="71" d="100"/>
          <a:sy n="71" d="100"/>
        </p:scale>
        <p:origin x="110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19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[~15 s] Presento mi proyecto: un sistema de detección de intrusiones de red sobre el dataset CICIDS2017, en el que comparo dos pipelines en cascada que se diferencian únicamente en el clasificador de segunda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matriz de confusión 7×7 del Pipeline A sobre el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matriz de confusión del Pipeline B. Se aprecia la sobre-predicción de Scan y la confusión en Botnet/WebAttack.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top features por ganancia media. Lideran Subflow Bwd Bytes y Subflow Fwd Packets, coherente con el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loss y accuracy por época. El val loss queda por debajo del train loss por la Focal Loss + balanced batching. Mejor F1 en época 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barras de accuracy, F1-macro y F1-weighted de A vs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curvas ROC por clase de ambos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curvas PR, más informativas que ROC con clases muy desbalanceadas.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mapa de calor de Pearson; bloques de multicolinealidad en IAT y tiempos de flujo justifican Dropout/colsample.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KDE por clase de las features con mayor F de ANOVA.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barrido de 300 umbrales, trade-off recall vs FPR; se elige el que maximiza F-beta con beta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00"/>
            <a:ext cx="12192000" cy="1778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8204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noProof="0" dirty="0">
                <a:solidFill>
                  <a:srgbClr val="FFFFFF"/>
                </a:solidFill>
                <a:latin typeface="Calibri"/>
              </a:rPr>
              <a:t>Detección de Intrusiones de Red con Pipelines en Cascada</a:t>
            </a:r>
          </a:p>
          <a:p>
            <a:pPr>
              <a:spcBef>
                <a:spcPts val="1200"/>
              </a:spcBef>
            </a:pPr>
            <a:r>
              <a:rPr lang="es-ES" sz="2200" noProof="0" dirty="0">
                <a:solidFill>
                  <a:srgbClr val="C9DAEF"/>
                </a:solidFill>
                <a:latin typeface="Calibri"/>
              </a:rPr>
              <a:t>Comparación experimental de dos arquitecturas sobre CICIDS2017</a:t>
            </a:r>
          </a:p>
          <a:p>
            <a:pPr>
              <a:spcBef>
                <a:spcPts val="2400"/>
              </a:spcBef>
            </a:pPr>
            <a:r>
              <a:rPr lang="es-ES" sz="1600" noProof="0" dirty="0">
                <a:solidFill>
                  <a:srgbClr val="A9C0DC"/>
                </a:solidFill>
                <a:latin typeface="Calibri"/>
              </a:rPr>
              <a:t>Aprendizaje Automático · Guillermo Sánchez Pérez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El problema: detección de intrusiones (IDS)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3194" y="1143000"/>
            <a:ext cx="947300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b="1" dirty="0">
                <a:solidFill>
                  <a:srgbClr val="333333"/>
                </a:solidFill>
              </a:rPr>
              <a:t>• Los IDS basados en ML superan a las firmas estáticas ante variantes nuevas</a:t>
            </a:r>
            <a:endParaRPr lang="es-ES" sz="18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Objetivo: clasificar cada flujo de red en BENIGN o en una de 6 familias de ataque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DoS,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DDoS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, Scan,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BruteForce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,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WebAttack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,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Botnet</a:t>
            </a:r>
            <a:endParaRPr lang="es-ES" sz="16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800" b="0" noProof="0" dirty="0">
                <a:solidFill>
                  <a:srgbClr val="B32C2C"/>
                </a:solidFill>
                <a:latin typeface="Calibri"/>
              </a:rPr>
              <a:t>• Desafío central: desbalanceo de clases EXTREMO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BENIGN ≈ 83 % del tráfico vs.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Botnet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 /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WebAttack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 ≈ 0,08 %  →  ratio &gt; 800:1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La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accuracy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 global es engañosa: un trivial 'todo BENIGN' lograría 83 %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Heterogeneidad de los ataques: no hay un único conjunto de </a:t>
            </a:r>
            <a:r>
              <a:rPr lang="es-ES" sz="1800" b="1" noProof="0" dirty="0" err="1">
                <a:solidFill>
                  <a:srgbClr val="333333"/>
                </a:solidFill>
                <a:latin typeface="Calibri"/>
              </a:rPr>
              <a:t>features</a:t>
            </a: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 discriminante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7C8FC5-5DAA-4019-A876-E92BD00AA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27921"/>
            <a:ext cx="8737101" cy="3230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Objetivo: comparar dos pipelines en cascada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1530" y="1143000"/>
            <a:ext cx="935467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Arquitectura de 2 etapas con un Stage 1 COMPARTIDO; solo cambia el Stage 2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Stage 1 — </a:t>
            </a:r>
            <a:r>
              <a:rPr lang="es-ES" sz="1800" b="1" noProof="0" dirty="0" err="1">
                <a:solidFill>
                  <a:srgbClr val="333333"/>
                </a:solidFill>
                <a:latin typeface="Calibri"/>
              </a:rPr>
              <a:t>Isolation</a:t>
            </a: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 Forest: filtro de anomalías (¿normal o anómalo?)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score ≥ umbral → BENIGN directo  |  score &lt; umbral → al Stage 2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Stage 2 — clasificador </a:t>
            </a:r>
            <a:r>
              <a:rPr lang="es-ES" sz="1800" b="1" noProof="0" dirty="0" err="1">
                <a:solidFill>
                  <a:srgbClr val="333333"/>
                </a:solidFill>
                <a:latin typeface="Calibri"/>
              </a:rPr>
              <a:t>multi-clase</a:t>
            </a: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 (¿qué tipo de ataque?):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– Pipeline A:  </a:t>
            </a:r>
            <a:r>
              <a:rPr lang="es-ES" sz="1600" b="0" noProof="0" dirty="0" err="1">
                <a:solidFill>
                  <a:srgbClr val="1E7A3C"/>
                </a:solidFill>
                <a:latin typeface="Calibri"/>
              </a:rPr>
              <a:t>Isolation</a:t>
            </a: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 Forest + </a:t>
            </a:r>
            <a:r>
              <a:rPr lang="es-ES" sz="1600" b="0" noProof="0" dirty="0" err="1">
                <a:solidFill>
                  <a:srgbClr val="1E7A3C"/>
                </a:solidFill>
                <a:latin typeface="Calibri"/>
              </a:rPr>
              <a:t>XGBoost</a:t>
            </a:r>
            <a:endParaRPr lang="es-ES" sz="1600" b="0" noProof="0" dirty="0">
              <a:solidFill>
                <a:srgbClr val="1E7A3C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– Pipeline B:  </a:t>
            </a:r>
            <a:r>
              <a:rPr lang="es-ES" sz="1600" b="0" noProof="0" dirty="0" err="1">
                <a:solidFill>
                  <a:srgbClr val="1E7A3C"/>
                </a:solidFill>
                <a:latin typeface="Calibri"/>
              </a:rPr>
              <a:t>Isolation</a:t>
            </a: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 Forest + Red Neuronal implementada en </a:t>
            </a:r>
            <a:r>
              <a:rPr lang="es-ES" sz="1600" b="0" noProof="0" dirty="0" err="1">
                <a:solidFill>
                  <a:srgbClr val="1E7A3C"/>
                </a:solidFill>
                <a:latin typeface="Calibri"/>
              </a:rPr>
              <a:t>NumPy</a:t>
            </a: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 puro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Comparación controlada del </a:t>
            </a:r>
            <a:r>
              <a:rPr lang="es-ES" sz="1800" b="1" noProof="0" dirty="0" err="1">
                <a:solidFill>
                  <a:srgbClr val="333333"/>
                </a:solidFill>
                <a:latin typeface="Calibri"/>
              </a:rPr>
              <a:t>trade</a:t>
            </a: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-off rendimiento vs. complejidad del Stage 2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El Stage 2 incluye la clase BENIGN → puede corregir falsos positivos del Stage 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264458-FCCB-5431-6F8F-EF50DF133B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216" b="32235"/>
          <a:stretch>
            <a:fillRect/>
          </a:stretch>
        </p:blipFill>
        <p:spPr>
          <a:xfrm>
            <a:off x="0" y="4011900"/>
            <a:ext cx="12192000" cy="2506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Los datos: CICIDS2017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7588" y="1130300"/>
            <a:ext cx="458051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b="1" noProof="0" dirty="0" err="1">
                <a:solidFill>
                  <a:srgbClr val="333333"/>
                </a:solidFill>
                <a:latin typeface="Calibri"/>
              </a:rPr>
              <a:t>Benchmark</a:t>
            </a:r>
            <a:r>
              <a:rPr lang="es-ES" b="1" noProof="0" dirty="0">
                <a:solidFill>
                  <a:srgbClr val="333333"/>
                </a:solidFill>
                <a:latin typeface="Calibri"/>
              </a:rPr>
              <a:t> estándar de IDS (Univ. New Brunswick, 2017)</a:t>
            </a:r>
          </a:p>
          <a:p>
            <a:pPr>
              <a:spcAft>
                <a:spcPts val="600"/>
              </a:spcAft>
            </a:pPr>
            <a:endParaRPr lang="es-ES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b="1" noProof="0" dirty="0">
                <a:solidFill>
                  <a:srgbClr val="333333"/>
                </a:solidFill>
                <a:latin typeface="Calibri"/>
              </a:rPr>
              <a:t>• 8 CSV · 5 días laborables · 2.830.743 flujos</a:t>
            </a:r>
          </a:p>
          <a:p>
            <a:pPr>
              <a:spcAft>
                <a:spcPts val="600"/>
              </a:spcAft>
            </a:pPr>
            <a:endParaRPr lang="es-ES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b="1" noProof="0" dirty="0">
                <a:solidFill>
                  <a:srgbClr val="333333"/>
                </a:solidFill>
                <a:latin typeface="Calibri"/>
              </a:rPr>
              <a:t>• 78 </a:t>
            </a:r>
            <a:r>
              <a:rPr lang="es-ES" b="1" noProof="0" dirty="0" err="1">
                <a:solidFill>
                  <a:srgbClr val="333333"/>
                </a:solidFill>
                <a:latin typeface="Calibri"/>
              </a:rPr>
              <a:t>features</a:t>
            </a:r>
            <a:r>
              <a:rPr lang="es-ES" b="1" noProof="0" dirty="0">
                <a:solidFill>
                  <a:srgbClr val="333333"/>
                </a:solidFill>
                <a:latin typeface="Calibri"/>
              </a:rPr>
              <a:t> numéricas de </a:t>
            </a:r>
            <a:r>
              <a:rPr lang="es-ES" b="1" noProof="0" dirty="0" err="1">
                <a:solidFill>
                  <a:srgbClr val="333333"/>
                </a:solidFill>
                <a:latin typeface="Calibri"/>
              </a:rPr>
              <a:t>CICFlowMeter</a:t>
            </a:r>
            <a:endParaRPr lang="es-ES" b="1" noProof="0" dirty="0">
              <a:solidFill>
                <a:srgbClr val="333333"/>
              </a:solidFill>
              <a:latin typeface="Calibri"/>
            </a:endParaRPr>
          </a:p>
          <a:p>
            <a:pPr lvl="1">
              <a:spcAft>
                <a:spcPts val="600"/>
              </a:spcAft>
            </a:pPr>
            <a:r>
              <a:rPr lang="es-ES" b="0" noProof="0" dirty="0">
                <a:solidFill>
                  <a:srgbClr val="333333"/>
                </a:solidFill>
                <a:latin typeface="Calibri"/>
              </a:rPr>
              <a:t>– duración, longitudes, IAT, </a:t>
            </a:r>
            <a:r>
              <a:rPr lang="es-ES" b="0" noProof="0" dirty="0" err="1">
                <a:solidFill>
                  <a:srgbClr val="333333"/>
                </a:solidFill>
                <a:latin typeface="Calibri"/>
              </a:rPr>
              <a:t>flags</a:t>
            </a:r>
            <a:r>
              <a:rPr lang="es-ES" b="0" noProof="0" dirty="0">
                <a:solidFill>
                  <a:srgbClr val="333333"/>
                </a:solidFill>
                <a:latin typeface="Calibri"/>
              </a:rPr>
              <a:t> TCP, tasas…</a:t>
            </a:r>
          </a:p>
          <a:p>
            <a:pPr lvl="1">
              <a:spcAft>
                <a:spcPts val="600"/>
              </a:spcAft>
            </a:pPr>
            <a:endParaRPr lang="es-ES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b="1" noProof="0" dirty="0">
                <a:solidFill>
                  <a:srgbClr val="333333"/>
                </a:solidFill>
                <a:latin typeface="Calibri"/>
              </a:rPr>
              <a:t>• 15 etiquetas originales → 7 clases canónicas</a:t>
            </a:r>
          </a:p>
          <a:p>
            <a:pPr lvl="1">
              <a:spcAft>
                <a:spcPts val="600"/>
              </a:spcAft>
            </a:pPr>
            <a:r>
              <a:rPr lang="es-ES" b="0" noProof="0" dirty="0">
                <a:solidFill>
                  <a:srgbClr val="333333"/>
                </a:solidFill>
                <a:latin typeface="Calibri"/>
              </a:rPr>
              <a:t>– agrupación por familia (p. ej. 5 variantes de DoS → DoS)</a:t>
            </a:r>
          </a:p>
          <a:p>
            <a:pPr lvl="1">
              <a:spcAft>
                <a:spcPts val="600"/>
              </a:spcAft>
            </a:pPr>
            <a:endParaRPr lang="es-ES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b="0" noProof="0" dirty="0">
                <a:solidFill>
                  <a:srgbClr val="B32C2C"/>
                </a:solidFill>
                <a:latin typeface="Calibri"/>
              </a:rPr>
              <a:t>• Desbalanceo visible: BENIGN domina; </a:t>
            </a:r>
            <a:r>
              <a:rPr lang="es-ES" b="0" noProof="0" dirty="0" err="1">
                <a:solidFill>
                  <a:srgbClr val="B32C2C"/>
                </a:solidFill>
                <a:latin typeface="Calibri"/>
              </a:rPr>
              <a:t>Botnet</a:t>
            </a:r>
            <a:r>
              <a:rPr lang="es-ES" b="0" noProof="0" dirty="0">
                <a:solidFill>
                  <a:srgbClr val="B32C2C"/>
                </a:solidFill>
                <a:latin typeface="Calibri"/>
              </a:rPr>
              <a:t> y </a:t>
            </a:r>
            <a:r>
              <a:rPr lang="es-ES" b="0" noProof="0" dirty="0" err="1">
                <a:solidFill>
                  <a:srgbClr val="B32C2C"/>
                </a:solidFill>
                <a:latin typeface="Calibri"/>
              </a:rPr>
              <a:t>WebAttack</a:t>
            </a:r>
            <a:r>
              <a:rPr lang="es-ES" b="0" noProof="0" dirty="0">
                <a:solidFill>
                  <a:srgbClr val="B32C2C"/>
                </a:solidFill>
                <a:latin typeface="Calibri"/>
              </a:rPr>
              <a:t> casi invisibles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CC9F8D-D7ED-FC26-BB1E-51EC0F0271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194"/>
          <a:stretch>
            <a:fillRect/>
          </a:stretch>
        </p:blipFill>
        <p:spPr>
          <a:xfrm>
            <a:off x="6096000" y="3347324"/>
            <a:ext cx="5043094" cy="32820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378C7A-A477-2B05-B249-01D17DC0B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765" b="20167"/>
          <a:stretch>
            <a:fillRect/>
          </a:stretch>
        </p:blipFill>
        <p:spPr>
          <a:xfrm>
            <a:off x="7178938" y="478043"/>
            <a:ext cx="3868721" cy="2769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Preprocesado y limpieza (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utils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/loader.py)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713546"/>
              </p:ext>
            </p:extLst>
          </p:nvPr>
        </p:nvGraphicFramePr>
        <p:xfrm>
          <a:off x="685800" y="1219198"/>
          <a:ext cx="10820400" cy="519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045">
                <a:tc>
                  <a:txBody>
                    <a:bodyPr/>
                    <a:lstStyle/>
                    <a:p>
                      <a:pPr algn="ctr"/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Detalle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1. Carga latin-1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>
                          <a:solidFill>
                            <a:srgbClr val="333333"/>
                          </a:solidFill>
                          <a:latin typeface="Calibri"/>
                        </a:rPr>
                        <a:t>Corrige en-dash de 'web attack – XSS'</a:t>
                      </a:r>
                      <a:endParaRPr lang="es-ES" sz="1500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2.830.743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2. NaN / </a:t>
                      </a:r>
                      <a:r>
                        <a:rPr lang="es-ES" sz="1500" b="1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Inf</a:t>
                      </a:r>
                      <a:endParaRPr lang="es-ES" sz="1500" b="1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>
                          <a:solidFill>
                            <a:srgbClr val="333333"/>
                          </a:solidFill>
                          <a:latin typeface="Calibri"/>
                        </a:rPr>
                        <a:t>Divisiones por cero en tasas de flujo</a:t>
                      </a:r>
                      <a:endParaRPr lang="es-ES" sz="1500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−2.867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3. Duplicados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>
                          <a:solidFill>
                            <a:srgbClr val="333333"/>
                          </a:solidFill>
                          <a:latin typeface="Calibri"/>
                        </a:rPr>
                        <a:t>Antes del split → evita data leakage</a:t>
                      </a:r>
                      <a:endParaRPr lang="es-ES" sz="1500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−307.078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4. Filtrado clases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>
                          <a:solidFill>
                            <a:srgbClr val="333333"/>
                          </a:solidFill>
                          <a:latin typeface="Calibri"/>
                        </a:rPr>
                        <a:t>Umbrales mín. (Todas las 7 pasan)</a:t>
                      </a:r>
                      <a:endParaRPr lang="es-ES" sz="1500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5. float32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>
                          <a:solidFill>
                            <a:srgbClr val="333333"/>
                          </a:solidFill>
                          <a:latin typeface="Calibri"/>
                        </a:rPr>
                        <a:t>593 MB → 297 MB de RAM</a:t>
                      </a:r>
                      <a:endParaRPr lang="es-ES" sz="1500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6. Muestreo estratificado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>
                          <a:solidFill>
                            <a:srgbClr val="333333"/>
                          </a:solidFill>
                          <a:latin typeface="Calibri"/>
                        </a:rPr>
                        <a:t>Preserva la distribución por clase</a:t>
                      </a:r>
                      <a:endParaRPr lang="es-ES" sz="1500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1.000.001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045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7. Split 70/15/15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Estratificado doble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700k/150k/150k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Técnicas — Stage 1: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Isolation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204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Detector de anomalías no supervisado (200 árboles)</a:t>
            </a: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Se entrena SOLO con muestras BENIGN → aprende el perfil de tráfico normal</a:t>
            </a:r>
          </a:p>
          <a:p>
            <a:pPr lvl="1" algn="ctr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NO VE ATAQUES → 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G</a:t>
            </a: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ENERALIZA A ATAQUES NO VISTOS</a:t>
            </a:r>
          </a:p>
          <a:p>
            <a:pPr lvl="1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Umbral óptimo por barrido de 300 candidatos, maximizando F-beta (β = 2)</a:t>
            </a:r>
          </a:p>
          <a:p>
            <a:pPr lvl="1" algn="ctr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 Β = 2 PRIORIZA RECALL: PERDER UN ATAQUE ES </a:t>
            </a:r>
            <a:r>
              <a:rPr lang="es-ES" sz="2400" b="0" u="sng" noProof="0" dirty="0">
                <a:solidFill>
                  <a:srgbClr val="333333"/>
                </a:solidFill>
                <a:latin typeface="Calibri"/>
              </a:rPr>
              <a:t>PEOR</a:t>
            </a: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 QUE UNA FALSA ALARMA</a:t>
            </a:r>
          </a:p>
          <a:p>
            <a:pPr lvl="1" algn="ctr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Resultado del filtro (idéntico en A y B):</a:t>
            </a:r>
          </a:p>
          <a:p>
            <a:pPr lvl="1" algn="ctr">
              <a:spcAft>
                <a:spcPts val="600"/>
              </a:spcAft>
            </a:pPr>
            <a:r>
              <a:rPr lang="es-ES" sz="2400" b="0" noProof="0" dirty="0">
                <a:solidFill>
                  <a:srgbClr val="1E7A3C"/>
                </a:solidFill>
                <a:latin typeface="Calibri"/>
              </a:rPr>
              <a:t>– </a:t>
            </a:r>
            <a:r>
              <a:rPr lang="es-ES" sz="2400" b="0" noProof="0" dirty="0" err="1">
                <a:solidFill>
                  <a:srgbClr val="1E7A3C"/>
                </a:solidFill>
                <a:latin typeface="Calibri"/>
              </a:rPr>
              <a:t>Recall</a:t>
            </a:r>
            <a:r>
              <a:rPr lang="es-ES" sz="2400" b="0" noProof="0" dirty="0">
                <a:solidFill>
                  <a:srgbClr val="1E7A3C"/>
                </a:solidFill>
                <a:latin typeface="Calibri"/>
              </a:rPr>
              <a:t> = 0,9682   ·   FNR = 0,0318</a:t>
            </a:r>
          </a:p>
          <a:p>
            <a:pPr lvl="1" algn="ctr">
              <a:spcAft>
                <a:spcPts val="600"/>
              </a:spcAft>
            </a:pPr>
            <a:r>
              <a:rPr lang="es-ES" sz="2400" b="0" noProof="0" dirty="0">
                <a:solidFill>
                  <a:srgbClr val="B32C2C"/>
                </a:solidFill>
                <a:latin typeface="Calibri"/>
              </a:rPr>
              <a:t>– FPR = 0,6008   ·   Precisión = 0,2467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Técnicas — Stage 2A: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XGBoost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 (Pipeline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204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Gradient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boosting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de árboles (hasta 300, profundidad 6)</a:t>
            </a: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Pesos de clase inversos a la frecuencia → compensa el desbalanceo</a:t>
            </a:r>
          </a:p>
          <a:p>
            <a:pPr lvl="1" algn="ctr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EQUIVALE A CLASS_WEIGHT='BALANCED’</a:t>
            </a:r>
          </a:p>
          <a:p>
            <a:pPr lvl="1" algn="ctr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Tuning: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RandomizedSearchCV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(20 iteraciones × 3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folds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estratificados)</a:t>
            </a:r>
          </a:p>
          <a:p>
            <a:pPr lvl="1" algn="ctr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CRITERIO DE SELECCIÓN: F1_MACRO SOBRE LAS CLASES DE ATAQUE</a:t>
            </a:r>
          </a:p>
          <a:p>
            <a:pPr lvl="1" algn="ctr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Early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stopping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(paciencia 20) con métrica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mlogloss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en validación</a:t>
            </a: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Solo procesa las muestras anómalas que enruta el Stage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Técnicas — Stage 2B: Red Neuronal en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NumPy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 (Pipeline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20400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MLP 78 → 256 → 128 → 64 → 7, implementado SIN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frameworks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de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deep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learning</a:t>
            </a: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Todo el ciclo a mano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: 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forward, </a:t>
            </a:r>
            <a:r>
              <a:rPr lang="es-ES" sz="2400" noProof="0" dirty="0" err="1">
                <a:solidFill>
                  <a:srgbClr val="333333"/>
                </a:solidFill>
                <a:latin typeface="Calibri"/>
              </a:rPr>
              <a:t>backprop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 por regla de la cadena, Adam</a:t>
            </a: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Regularización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: Batch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Normalization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+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Dropout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invertido +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weight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decay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L2</a:t>
            </a: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• Frente al desbalanceo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– Focal Loss (γ=2) + </a:t>
            </a:r>
            <a:r>
              <a:rPr lang="es-ES" sz="2400" noProof="0" dirty="0" err="1">
                <a:solidFill>
                  <a:srgbClr val="333333"/>
                </a:solidFill>
                <a:latin typeface="Calibri"/>
              </a:rPr>
              <a:t>label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S" sz="2400" noProof="0" dirty="0" err="1">
                <a:solidFill>
                  <a:srgbClr val="333333"/>
                </a:solidFill>
                <a:latin typeface="Calibri"/>
              </a:rPr>
              <a:t>smoothing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 + pesos de clase</a:t>
            </a:r>
          </a:p>
          <a:p>
            <a:pPr lvl="1">
              <a:spcAft>
                <a:spcPts val="600"/>
              </a:spcAft>
            </a:pP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– </a:t>
            </a:r>
            <a:r>
              <a:rPr lang="es-ES" sz="2400" noProof="0" dirty="0" err="1">
                <a:solidFill>
                  <a:srgbClr val="333333"/>
                </a:solidFill>
                <a:latin typeface="Calibri"/>
              </a:rPr>
              <a:t>balanced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S" sz="2400" noProof="0" dirty="0" err="1">
                <a:solidFill>
                  <a:srgbClr val="333333"/>
                </a:solidFill>
                <a:latin typeface="Calibri"/>
              </a:rPr>
              <a:t>batching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 + </a:t>
            </a:r>
            <a:r>
              <a:rPr lang="es-ES" sz="2400" noProof="0" dirty="0" err="1">
                <a:solidFill>
                  <a:srgbClr val="333333"/>
                </a:solidFill>
                <a:latin typeface="Calibri"/>
              </a:rPr>
              <a:t>sobremuestreo</a:t>
            </a:r>
            <a:r>
              <a:rPr lang="es-ES" sz="2400" noProof="0" dirty="0">
                <a:solidFill>
                  <a:srgbClr val="333333"/>
                </a:solidFill>
                <a:latin typeface="Calibri"/>
              </a:rPr>
              <a:t> de minoritarias con ruido</a:t>
            </a:r>
          </a:p>
          <a:p>
            <a:pPr lvl="1">
              <a:spcAft>
                <a:spcPts val="600"/>
              </a:spcAft>
            </a:pPr>
            <a:endParaRPr lang="es-ES" sz="240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 LR </a:t>
            </a:r>
            <a:r>
              <a:rPr lang="es-ES" sz="2400" b="1" noProof="0" dirty="0" err="1">
                <a:solidFill>
                  <a:schemeClr val="tx2"/>
                </a:solidFill>
                <a:latin typeface="Calibri"/>
              </a:rPr>
              <a:t>scheduling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 (</a:t>
            </a:r>
            <a:r>
              <a:rPr lang="es-ES" sz="2400" b="1" noProof="0" dirty="0" err="1">
                <a:solidFill>
                  <a:schemeClr val="tx2"/>
                </a:solidFill>
                <a:latin typeface="Calibri"/>
              </a:rPr>
              <a:t>warmup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 + </a:t>
            </a:r>
            <a:r>
              <a:rPr lang="es-ES" sz="2400" b="1" noProof="0" dirty="0" err="1">
                <a:solidFill>
                  <a:schemeClr val="tx2"/>
                </a:solidFill>
                <a:latin typeface="Calibri"/>
              </a:rPr>
              <a:t>ReduceLROnPlateau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) y </a:t>
            </a:r>
            <a:r>
              <a:rPr lang="es-ES" sz="2400" b="1" noProof="0" dirty="0" err="1">
                <a:solidFill>
                  <a:schemeClr val="tx2"/>
                </a:solidFill>
                <a:latin typeface="Calibri"/>
              </a:rPr>
              <a:t>gradient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 </a:t>
            </a:r>
            <a:r>
              <a:rPr lang="es-ES" sz="2400" b="1" noProof="0" dirty="0" err="1">
                <a:solidFill>
                  <a:schemeClr val="tx2"/>
                </a:solidFill>
                <a:latin typeface="Calibri"/>
              </a:rPr>
              <a:t>clipping</a:t>
            </a:r>
            <a:endParaRPr lang="es-ES" sz="2400" b="1" noProof="0" dirty="0">
              <a:solidFill>
                <a:schemeClr val="tx2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2400" b="1" noProof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Resultados globales: Pipeline A vs. Pipeline 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697758"/>
              </p:ext>
            </p:extLst>
          </p:nvPr>
        </p:nvGraphicFramePr>
        <p:xfrm>
          <a:off x="685800" y="1219200"/>
          <a:ext cx="11126097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8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Pipeline A (</a:t>
                      </a:r>
                      <a:r>
                        <a:rPr lang="es-ES" sz="1600" b="1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Pipeline B (NN </a:t>
                      </a:r>
                      <a:r>
                        <a:rPr lang="es-ES" sz="1600" b="1" noProof="0" dirty="0" err="1">
                          <a:solidFill>
                            <a:srgbClr val="FFFFFF"/>
                          </a:solidFill>
                          <a:latin typeface="Calibri"/>
                        </a:rPr>
                        <a:t>NumPy</a:t>
                      </a:r>
                      <a:r>
                        <a:rPr lang="es-ES" sz="16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Accuracy</a:t>
                      </a:r>
                      <a:endParaRPr lang="es-ES" sz="1500" b="1" noProof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noProof="0" dirty="0">
                          <a:solidFill>
                            <a:srgbClr val="1E7A3C"/>
                          </a:solidFill>
                          <a:latin typeface="Calibri"/>
                        </a:rPr>
                        <a:t>0,9936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0,9685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F1-macro (primaria)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noProof="0" dirty="0">
                          <a:solidFill>
                            <a:srgbClr val="1E7A3C"/>
                          </a:solidFill>
                          <a:latin typeface="Calibri"/>
                        </a:rPr>
                        <a:t>0,9516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0,7497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F1-weighted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noProof="0" dirty="0">
                          <a:solidFill>
                            <a:srgbClr val="1E7A3C"/>
                          </a:solidFill>
                          <a:latin typeface="Calibri"/>
                        </a:rPr>
                        <a:t>0,9936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0,9736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s-ES" sz="1500" b="1" noProof="0" dirty="0">
                          <a:solidFill>
                            <a:srgbClr val="333333"/>
                          </a:solidFill>
                          <a:latin typeface="Calibri"/>
                        </a:rPr>
                        <a:t>Tiempo (CPU)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1" noProof="0" dirty="0">
                          <a:solidFill>
                            <a:srgbClr val="1E7A3C"/>
                          </a:solidFill>
                          <a:latin typeface="Calibri"/>
                        </a:rPr>
                        <a:t>~85 min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noProof="0" dirty="0">
                          <a:solidFill>
                            <a:srgbClr val="333333"/>
                          </a:solidFill>
                          <a:latin typeface="Calibri"/>
                        </a:rPr>
                        <a:t>~39 min</a:t>
                      </a:r>
                    </a:p>
                  </a:txBody>
                  <a:tcPr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368040"/>
            <a:ext cx="108204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s-ES" sz="1600" b="0" noProof="0" dirty="0">
              <a:solidFill>
                <a:srgbClr val="1E7A3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1600" dirty="0">
              <a:solidFill>
                <a:srgbClr val="1E7A3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	</a:t>
            </a:r>
          </a:p>
          <a:p>
            <a:pPr>
              <a:spcAft>
                <a:spcPts val="600"/>
              </a:spcAft>
            </a:pPr>
            <a:endParaRPr lang="es-ES" sz="1600" dirty="0">
              <a:solidFill>
                <a:srgbClr val="1E7A3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lang="es-ES" sz="1600" b="0" noProof="0" dirty="0">
              <a:solidFill>
                <a:srgbClr val="1E7A3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• Pipeline A supera el </a:t>
            </a:r>
            <a:r>
              <a:rPr lang="es-ES" sz="1600" b="0" noProof="0" dirty="0" err="1">
                <a:solidFill>
                  <a:srgbClr val="1E7A3C"/>
                </a:solidFill>
                <a:latin typeface="Calibri"/>
              </a:rPr>
              <a:t>benchmark</a:t>
            </a:r>
            <a:r>
              <a:rPr lang="es-ES" sz="1600" b="0" noProof="0" dirty="0">
                <a:solidFill>
                  <a:srgbClr val="1E7A3C"/>
                </a:solidFill>
                <a:latin typeface="Calibri"/>
              </a:rPr>
              <a:t> F1-macro &gt; 0,90  ·  la brecha está en F1-macro (−0,20)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Resultados por clase: ¿dónde está la diferencia?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9200"/>
            <a:ext cx="5486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noProof="0" dirty="0">
                <a:solidFill>
                  <a:srgbClr val="333333"/>
                </a:solidFill>
                <a:latin typeface="Calibri"/>
              </a:rPr>
              <a:t>• Clases grandes: empate técnico</a:t>
            </a:r>
          </a:p>
          <a:p>
            <a:pPr lvl="1">
              <a:spcAft>
                <a:spcPts val="600"/>
              </a:spcAft>
            </a:pP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– </a:t>
            </a:r>
            <a:r>
              <a:rPr lang="es-ES" sz="2000" b="0" noProof="0" dirty="0" err="1">
                <a:solidFill>
                  <a:srgbClr val="333333"/>
                </a:solidFill>
                <a:latin typeface="Calibri"/>
              </a:rPr>
              <a:t>DDoS</a:t>
            </a: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, DoS, </a:t>
            </a:r>
            <a:r>
              <a:rPr lang="es-ES" sz="2000" b="0" noProof="0" dirty="0" err="1">
                <a:solidFill>
                  <a:srgbClr val="333333"/>
                </a:solidFill>
                <a:latin typeface="Calibri"/>
              </a:rPr>
              <a:t>BruteForce</a:t>
            </a: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 → F1 ≈ 0,96–0,99 en ambos</a:t>
            </a:r>
          </a:p>
          <a:p>
            <a:pPr lvl="1">
              <a:spcAft>
                <a:spcPts val="600"/>
              </a:spcAft>
            </a:pPr>
            <a:endParaRPr lang="es-ES" sz="20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b="0" noProof="0" dirty="0">
                <a:solidFill>
                  <a:srgbClr val="B32C2C"/>
                </a:solidFill>
                <a:latin typeface="Calibri"/>
              </a:rPr>
              <a:t>• El gap se concentra en las </a:t>
            </a:r>
            <a:r>
              <a:rPr lang="es-ES" sz="2000" b="0" noProof="0" dirty="0" err="1">
                <a:solidFill>
                  <a:srgbClr val="B32C2C"/>
                </a:solidFill>
                <a:latin typeface="Calibri"/>
              </a:rPr>
              <a:t>ultraminoritarias</a:t>
            </a:r>
            <a:r>
              <a:rPr lang="es-ES" sz="2000" b="0" noProof="0" dirty="0">
                <a:solidFill>
                  <a:srgbClr val="B32C2C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– </a:t>
            </a:r>
            <a:r>
              <a:rPr lang="es-ES" sz="2000" b="0" noProof="0" dirty="0" err="1">
                <a:solidFill>
                  <a:srgbClr val="333333"/>
                </a:solidFill>
                <a:latin typeface="Calibri"/>
              </a:rPr>
              <a:t>Botnet</a:t>
            </a: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:  A=0,76  vs  B=0,16   (Δ −0,61)</a:t>
            </a:r>
          </a:p>
          <a:p>
            <a:pPr lvl="1">
              <a:spcAft>
                <a:spcPts val="600"/>
              </a:spcAft>
            </a:pP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– </a:t>
            </a:r>
            <a:r>
              <a:rPr lang="es-ES" sz="2000" b="0" noProof="0" dirty="0" err="1">
                <a:solidFill>
                  <a:srgbClr val="333333"/>
                </a:solidFill>
                <a:latin typeface="Calibri"/>
              </a:rPr>
              <a:t>WebAttack</a:t>
            </a: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:  A=0,96  vs  B=0,35   (Δ −0,61)</a:t>
            </a:r>
          </a:p>
          <a:p>
            <a:pPr lvl="1">
              <a:spcAft>
                <a:spcPts val="600"/>
              </a:spcAft>
            </a:pPr>
            <a:r>
              <a:rPr lang="es-ES" sz="2000" b="0" noProof="0" dirty="0">
                <a:solidFill>
                  <a:srgbClr val="333333"/>
                </a:solidFill>
                <a:latin typeface="Calibri"/>
              </a:rPr>
              <a:t>– Scan:  A=0,99  vs  B=0,85   (Δ −0,14)</a:t>
            </a:r>
          </a:p>
          <a:p>
            <a:pPr lvl="1">
              <a:spcAft>
                <a:spcPts val="600"/>
              </a:spcAft>
            </a:pPr>
            <a:endParaRPr lang="es-ES" sz="20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000" b="1" noProof="0" dirty="0">
                <a:solidFill>
                  <a:srgbClr val="333333"/>
                </a:solidFill>
                <a:latin typeface="Calibri"/>
              </a:rPr>
              <a:t>• → No es un fallo global de B, sino en las clases con &lt; 1.000 muestras</a:t>
            </a:r>
          </a:p>
        </p:txBody>
      </p:sp>
      <p:pic>
        <p:nvPicPr>
          <p:cNvPr id="5" name="Picture 4" descr="f1_per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95400"/>
            <a:ext cx="5715000" cy="31010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Análisis crítico: ¿por qué falla la red neuronal?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204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Patrón en B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: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recall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altísimo pero PRECISIÓN colapsada en minoritarias</a:t>
            </a:r>
          </a:p>
          <a:p>
            <a:pPr lvl="1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– </a:t>
            </a:r>
            <a:r>
              <a:rPr lang="es-ES" sz="2400" b="0" noProof="0" dirty="0" err="1">
                <a:solidFill>
                  <a:srgbClr val="333333"/>
                </a:solidFill>
                <a:latin typeface="Calibri"/>
              </a:rPr>
              <a:t>Botnet</a:t>
            </a: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 precisión 8 % · </a:t>
            </a:r>
            <a:r>
              <a:rPr lang="es-ES" sz="2400" b="0" noProof="0" dirty="0" err="1">
                <a:solidFill>
                  <a:srgbClr val="333333"/>
                </a:solidFill>
                <a:latin typeface="Calibri"/>
              </a:rPr>
              <a:t>WebAttack</a:t>
            </a: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 22 % → muchas falsas alarmas por acierto</a:t>
            </a:r>
          </a:p>
          <a:p>
            <a:pPr lvl="1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Causa 1 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—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balanced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batching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+ Focal Loss sobre poquísimas muestras:</a:t>
            </a:r>
          </a:p>
          <a:p>
            <a:pPr lvl="1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– ve las mismas pocas muestras repetidas → frontera de decisión laxa</a:t>
            </a:r>
          </a:p>
          <a:p>
            <a:pPr lvl="1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Causa 2 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— ruido del Stage 1: ~75.000 falsos positivos BENIGN que B debe filtrar</a:t>
            </a:r>
          </a:p>
          <a:p>
            <a:pPr lvl="1">
              <a:spcAft>
                <a:spcPts val="600"/>
              </a:spcAft>
            </a:pP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– </a:t>
            </a:r>
            <a:r>
              <a:rPr lang="es-ES" sz="2400" b="0" noProof="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lang="es-ES" sz="2400" b="0" noProof="0" dirty="0">
                <a:solidFill>
                  <a:srgbClr val="333333"/>
                </a:solidFill>
                <a:latin typeface="Calibri"/>
              </a:rPr>
              <a:t> gestiona ese ruido mejor con 300 árboles regularizados</a:t>
            </a:r>
          </a:p>
          <a:p>
            <a:pPr lvl="1">
              <a:spcAft>
                <a:spcPts val="600"/>
              </a:spcAft>
            </a:pPr>
            <a:endParaRPr lang="es-ES" sz="2400" b="0" noProof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s-ES" sz="2400" b="1" noProof="0" dirty="0">
                <a:solidFill>
                  <a:schemeClr val="tx2"/>
                </a:solidFill>
                <a:latin typeface="Calibri"/>
              </a:rPr>
              <a:t>Causa 3 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—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NumPy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puro sin GPU ni </a:t>
            </a:r>
            <a:r>
              <a:rPr lang="es-ES" sz="2400" b="1" noProof="0" dirty="0" err="1">
                <a:solidFill>
                  <a:srgbClr val="333333"/>
                </a:solidFill>
                <a:latin typeface="Calibri"/>
              </a:rPr>
              <a:t>framework</a:t>
            </a:r>
            <a:r>
              <a:rPr lang="es-ES" sz="2400" b="1" noProof="0" dirty="0">
                <a:solidFill>
                  <a:srgbClr val="333333"/>
                </a:solidFill>
                <a:latin typeface="Calibri"/>
              </a:rPr>
              <a:t> optimizado</a:t>
            </a:r>
          </a:p>
          <a:p>
            <a:pPr>
              <a:spcAft>
                <a:spcPts val="600"/>
              </a:spcAft>
            </a:pPr>
            <a:r>
              <a:rPr lang="es-ES" sz="2400" b="0" noProof="0" dirty="0">
                <a:solidFill>
                  <a:srgbClr val="B32C2C"/>
                </a:solidFill>
                <a:latin typeface="Calibri"/>
              </a:rPr>
              <a:t>• Límite del sistema: el FNR 3,18 % del Stage 1 fija el techo de </a:t>
            </a:r>
            <a:r>
              <a:rPr lang="es-ES" sz="2400" b="0" noProof="0" dirty="0" err="1">
                <a:solidFill>
                  <a:srgbClr val="B32C2C"/>
                </a:solidFill>
                <a:latin typeface="Calibri"/>
              </a:rPr>
              <a:t>recall</a:t>
            </a:r>
            <a:r>
              <a:rPr lang="es-ES" sz="2400" b="0" noProof="0" dirty="0">
                <a:solidFill>
                  <a:srgbClr val="B32C2C"/>
                </a:solidFill>
                <a:latin typeface="Calibri"/>
              </a:rPr>
              <a:t> (96,8 %)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Conclusiones y mejoras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820400" cy="518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sz="1800" b="0" noProof="0" dirty="0">
                <a:solidFill>
                  <a:srgbClr val="1E7A3C"/>
                </a:solidFill>
                <a:latin typeface="Calibri"/>
              </a:rPr>
              <a:t>• Pipeline A (IF + </a:t>
            </a:r>
            <a:r>
              <a:rPr lang="es-ES" sz="1800" b="0" noProof="0" dirty="0" err="1">
                <a:solidFill>
                  <a:srgbClr val="1E7A3C"/>
                </a:solidFill>
                <a:latin typeface="Calibri"/>
              </a:rPr>
              <a:t>XGBoost</a:t>
            </a:r>
            <a:r>
              <a:rPr lang="es-ES" sz="1800" b="0" noProof="0" dirty="0">
                <a:solidFill>
                  <a:srgbClr val="1E7A3C"/>
                </a:solidFill>
                <a:latin typeface="Calibri"/>
              </a:rPr>
              <a:t>) es el sistema recomendado: F1-macro 0,95 (&gt; 0,90)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Pipeline B (0,75) es inoperante en </a:t>
            </a:r>
            <a:r>
              <a:rPr lang="es-ES" sz="1800" b="1" noProof="0" dirty="0" err="1">
                <a:solidFill>
                  <a:srgbClr val="333333"/>
                </a:solidFill>
                <a:latin typeface="Calibri"/>
              </a:rPr>
              <a:t>Botnet</a:t>
            </a: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/</a:t>
            </a:r>
            <a:r>
              <a:rPr lang="es-ES" sz="1800" b="1" noProof="0" dirty="0" err="1">
                <a:solidFill>
                  <a:srgbClr val="333333"/>
                </a:solidFill>
                <a:latin typeface="Calibri"/>
              </a:rPr>
              <a:t>WebAttack</a:t>
            </a: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, pero tiene valor formativo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implementar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backprop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,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BatchNorm</a:t>
            </a: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, Adam y Focal Loss a mano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Aprendizaje clave: en una cascada el cuello de botella es el Stage 1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optimizar el detector inicial importa más que mejorar el Stage 2</a:t>
            </a:r>
          </a:p>
          <a:p>
            <a:pPr>
              <a:spcAft>
                <a:spcPts val="600"/>
              </a:spcAft>
            </a:pPr>
            <a:r>
              <a:rPr lang="es-ES" sz="1800" b="1" noProof="0" dirty="0">
                <a:solidFill>
                  <a:srgbClr val="333333"/>
                </a:solidFill>
                <a:latin typeface="Calibri"/>
              </a:rPr>
              <a:t>• Mejoras futuras:</a:t>
            </a:r>
          </a:p>
          <a:p>
            <a:pPr lvl="1">
              <a:spcAft>
                <a:spcPts val="600"/>
              </a:spcAft>
            </a:pPr>
            <a:r>
              <a:rPr lang="es-ES" sz="1600" b="0" noProof="0" dirty="0">
                <a:solidFill>
                  <a:srgbClr val="333333"/>
                </a:solidFill>
                <a:latin typeface="Calibri"/>
              </a:rPr>
              <a:t>– ensemble A+B · SMOTE/ADASYN · Stage 1 supervisado · selección de </a:t>
            </a:r>
            <a:r>
              <a:rPr lang="es-ES" sz="1600" b="0" noProof="0" dirty="0" err="1">
                <a:solidFill>
                  <a:srgbClr val="333333"/>
                </a:solidFill>
                <a:latin typeface="Calibri"/>
              </a:rPr>
              <a:t>features</a:t>
            </a:r>
            <a:endParaRPr lang="es-ES" sz="1600" b="0" noProof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0"/>
            <a:ext cx="1082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noProof="0" dirty="0">
                <a:solidFill>
                  <a:srgbClr val="FFFFFF"/>
                </a:solidFill>
                <a:latin typeface="Calibri"/>
              </a:rPr>
              <a:t>Diapositivas de respaldo</a:t>
            </a:r>
          </a:p>
          <a:p>
            <a:pPr algn="ctr">
              <a:spcBef>
                <a:spcPts val="1200"/>
              </a:spcBef>
            </a:pPr>
            <a:endParaRPr lang="es-ES" sz="1800" noProof="0" dirty="0">
              <a:solidFill>
                <a:srgbClr val="C9DAE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Matriz de confusión — Pipeline A (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XGBoost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)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07" y="1295400"/>
            <a:ext cx="5462186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Matriz de confusión — Pipeline B (NN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NumPy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)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609" y="1295400"/>
            <a:ext cx="5436781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Importancia de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features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 —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XGBoost</a:t>
            </a:r>
            <a:endParaRPr lang="es-ES" sz="3000" b="1" noProof="0" dirty="0">
              <a:solidFill>
                <a:srgbClr val="1F3A5F"/>
              </a:solidFill>
              <a:latin typeface="Calibri"/>
            </a:endParaRP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155" y="1130300"/>
            <a:ext cx="5489690" cy="5471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Curvas de entrenamiento — Red Neuronal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03" y="1865555"/>
            <a:ext cx="10544597" cy="4373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Comparativa de métricas globales</a:t>
            </a:r>
          </a:p>
        </p:txBody>
      </p:sp>
      <p:pic>
        <p:nvPicPr>
          <p:cNvPr id="4" name="Picture 3" descr="metric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1295400"/>
            <a:ext cx="7715250" cy="47699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Curvas ROC (One-vs-Rest)</a:t>
            </a:r>
          </a:p>
        </p:txBody>
      </p:sp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23" y="1295400"/>
            <a:ext cx="11283785" cy="45029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Curvas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Precision-Recall</a:t>
            </a:r>
            <a:endParaRPr lang="es-ES" sz="3000" b="1" noProof="0" dirty="0">
              <a:solidFill>
                <a:srgbClr val="1F3A5F"/>
              </a:solidFill>
              <a:latin typeface="Calibri"/>
            </a:endParaRPr>
          </a:p>
        </p:txBody>
      </p:sp>
      <p:pic>
        <p:nvPicPr>
          <p:cNvPr id="4" name="Picture 3" descr="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1295400"/>
            <a:ext cx="7715250" cy="30788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EDA — Correlación entre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features</a:t>
            </a:r>
            <a:endParaRPr lang="es-ES" sz="3000" b="1" noProof="0" dirty="0">
              <a:solidFill>
                <a:srgbClr val="1F3A5F"/>
              </a:solidFill>
              <a:latin typeface="Calibri"/>
            </a:endParaRPr>
          </a:p>
        </p:txBody>
      </p:sp>
      <p:pic>
        <p:nvPicPr>
          <p:cNvPr id="4" name="Picture 3" descr="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383" y="1295400"/>
            <a:ext cx="5657233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EDA — Distribuciones por clase</a:t>
            </a:r>
          </a:p>
        </p:txBody>
      </p:sp>
      <p:pic>
        <p:nvPicPr>
          <p:cNvPr id="4" name="Picture 3" descr="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1295400"/>
            <a:ext cx="7715250" cy="420298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8204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Curva de umbral del </a:t>
            </a:r>
            <a:r>
              <a:rPr lang="es-ES" sz="3000" b="1" noProof="0" dirty="0" err="1">
                <a:solidFill>
                  <a:srgbClr val="1F3A5F"/>
                </a:solidFill>
                <a:latin typeface="Calibri"/>
              </a:rPr>
              <a:t>Isolation</a:t>
            </a:r>
            <a:r>
              <a:rPr lang="es-ES" sz="3000" b="1" noProof="0" dirty="0">
                <a:solidFill>
                  <a:srgbClr val="1F3A5F"/>
                </a:solidFill>
                <a:latin typeface="Calibri"/>
              </a:rPr>
              <a:t> Forest</a:t>
            </a:r>
          </a:p>
        </p:txBody>
      </p:sp>
      <p:pic>
        <p:nvPicPr>
          <p:cNvPr id="4" name="Picture 3" descr="threshol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1295400"/>
            <a:ext cx="7715250" cy="4227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1382</Words>
  <Application>Microsoft Office PowerPoint</Application>
  <PresentationFormat>Panorámica</PresentationFormat>
  <Paragraphs>167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GUILLERMO SÁNCHEZ PÉREZ</cp:lastModifiedBy>
  <cp:revision>4</cp:revision>
  <dcterms:created xsi:type="dcterms:W3CDTF">2013-01-27T09:14:16Z</dcterms:created>
  <dcterms:modified xsi:type="dcterms:W3CDTF">2026-06-22T00:42:21Z</dcterms:modified>
  <cp:category/>
</cp:coreProperties>
</file>